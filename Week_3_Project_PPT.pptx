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7E402B-1C2D-4371-8DAD-426E2ED501D5}" v="9" dt="2025-11-13T05:29:18.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782" y="110"/>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26" Type="http://schemas.microsoft.com/office/2015/10/relationships/revisionInfo" Target="revisionInfo.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s Hanashi" userId="7e118203a64c2380" providerId="LiveId" clId="{C835A5DB-EAEA-42E9-84E7-8AB680BF2DD8}"/>
    <pc:docChg chg="undo custSel modSld">
      <pc:chgData name="Shreyas Hanashi" userId="7e118203a64c2380" providerId="LiveId" clId="{C835A5DB-EAEA-42E9-84E7-8AB680BF2DD8}" dt="2025-11-13T05:32:05.442" v="207" actId="20577"/>
      <pc:docMkLst>
        <pc:docMk/>
      </pc:docMkLst>
      <pc:sldChg chg="modSp mod">
        <pc:chgData name="Shreyas Hanashi" userId="7e118203a64c2380" providerId="LiveId" clId="{C835A5DB-EAEA-42E9-84E7-8AB680BF2DD8}" dt="2025-11-13T05:30:16.127" v="205" actId="1036"/>
        <pc:sldMkLst>
          <pc:docMk/>
          <pc:sldMk cId="367127615" sldId="256"/>
        </pc:sldMkLst>
        <pc:spChg chg="mod">
          <ac:chgData name="Shreyas Hanashi" userId="7e118203a64c2380" providerId="LiveId" clId="{C835A5DB-EAEA-42E9-84E7-8AB680BF2DD8}" dt="2025-11-13T05:30:07.887" v="200" actId="115"/>
          <ac:spMkLst>
            <pc:docMk/>
            <pc:sldMk cId="367127615" sldId="256"/>
            <ac:spMk id="5" creationId="{D5067E9C-C7B9-4476-9708-CBB3F66FD892}"/>
          </ac:spMkLst>
        </pc:spChg>
        <pc:picChg chg="mod">
          <ac:chgData name="Shreyas Hanashi" userId="7e118203a64c2380" providerId="LiveId" clId="{C835A5DB-EAEA-42E9-84E7-8AB680BF2DD8}" dt="2025-11-13T05:30:16.127" v="205" actId="1036"/>
          <ac:picMkLst>
            <pc:docMk/>
            <pc:sldMk cId="367127615" sldId="256"/>
            <ac:picMk id="2" creationId="{07B8740D-C76F-46FC-AEFB-23FB0614DB0C}"/>
          </ac:picMkLst>
        </pc:picChg>
      </pc:sldChg>
      <pc:sldChg chg="delSp modSp mod">
        <pc:chgData name="Shreyas Hanashi" userId="7e118203a64c2380" providerId="LiveId" clId="{C835A5DB-EAEA-42E9-84E7-8AB680BF2DD8}" dt="2025-11-13T05:32:05.442" v="207" actId="20577"/>
        <pc:sldMkLst>
          <pc:docMk/>
          <pc:sldMk cId="2932052481" sldId="257"/>
        </pc:sldMkLst>
        <pc:spChg chg="mod">
          <ac:chgData name="Shreyas Hanashi" userId="7e118203a64c2380" providerId="LiveId" clId="{C835A5DB-EAEA-42E9-84E7-8AB680BF2DD8}" dt="2025-11-13T05:16:24.732" v="117" actId="2711"/>
          <ac:spMkLst>
            <pc:docMk/>
            <pc:sldMk cId="2932052481" sldId="257"/>
            <ac:spMk id="2" creationId="{B094E319-C77C-49E2-964C-6E125D716194}"/>
          </ac:spMkLst>
        </pc:spChg>
        <pc:spChg chg="mod">
          <ac:chgData name="Shreyas Hanashi" userId="7e118203a64c2380" providerId="LiveId" clId="{C835A5DB-EAEA-42E9-84E7-8AB680BF2DD8}" dt="2025-11-13T05:15:43.090" v="112" actId="20577"/>
          <ac:spMkLst>
            <pc:docMk/>
            <pc:sldMk cId="2932052481" sldId="257"/>
            <ac:spMk id="3" creationId="{8E1F3497-5370-4874-9908-5AD45214E10B}"/>
          </ac:spMkLst>
        </pc:spChg>
        <pc:spChg chg="del mod">
          <ac:chgData name="Shreyas Hanashi" userId="7e118203a64c2380" providerId="LiveId" clId="{C835A5DB-EAEA-42E9-84E7-8AB680BF2DD8}" dt="2025-11-13T05:15:44.892" v="114"/>
          <ac:spMkLst>
            <pc:docMk/>
            <pc:sldMk cId="2932052481" sldId="257"/>
            <ac:spMk id="4" creationId="{ECE830DD-8813-42EB-B27B-B7D85423D0C7}"/>
          </ac:spMkLst>
        </pc:spChg>
        <pc:spChg chg="mod">
          <ac:chgData name="Shreyas Hanashi" userId="7e118203a64c2380" providerId="LiveId" clId="{C835A5DB-EAEA-42E9-84E7-8AB680BF2DD8}" dt="2025-11-13T05:32:05.442" v="207" actId="20577"/>
          <ac:spMkLst>
            <pc:docMk/>
            <pc:sldMk cId="2932052481" sldId="257"/>
            <ac:spMk id="7" creationId="{6C264928-EACB-4739-BDDA-6799C99356F3}"/>
          </ac:spMkLst>
        </pc:spChg>
        <pc:cxnChg chg="mod">
          <ac:chgData name="Shreyas Hanashi" userId="7e118203a64c2380" providerId="LiveId" clId="{C835A5DB-EAEA-42E9-84E7-8AB680BF2DD8}" dt="2025-11-13T05:15:53.324" v="116" actId="1076"/>
          <ac:cxnSpMkLst>
            <pc:docMk/>
            <pc:sldMk cId="2932052481" sldId="257"/>
            <ac:cxnSpMk id="5" creationId="{CA22F707-7F22-48A3-97EC-98EFB1023A55}"/>
          </ac:cxnSpMkLst>
        </pc:cxnChg>
      </pc:sldChg>
      <pc:sldChg chg="modSp mod">
        <pc:chgData name="Shreyas Hanashi" userId="7e118203a64c2380" providerId="LiveId" clId="{C835A5DB-EAEA-42E9-84E7-8AB680BF2DD8}" dt="2025-11-13T05:14:51.244" v="85" actId="255"/>
        <pc:sldMkLst>
          <pc:docMk/>
          <pc:sldMk cId="564571264" sldId="258"/>
        </pc:sldMkLst>
        <pc:spChg chg="mod">
          <ac:chgData name="Shreyas Hanashi" userId="7e118203a64c2380" providerId="LiveId" clId="{C835A5DB-EAEA-42E9-84E7-8AB680BF2DD8}" dt="2025-11-13T05:14:51.244" v="85" actId="255"/>
          <ac:spMkLst>
            <pc:docMk/>
            <pc:sldMk cId="564571264" sldId="258"/>
            <ac:spMk id="3" creationId="{2361D872-7EC7-439F-A588-B1D90CB7A92F}"/>
          </ac:spMkLst>
        </pc:spChg>
      </pc:sldChg>
      <pc:sldChg chg="modSp mod">
        <pc:chgData name="Shreyas Hanashi" userId="7e118203a64c2380" providerId="LiveId" clId="{C835A5DB-EAEA-42E9-84E7-8AB680BF2DD8}" dt="2025-11-13T05:18:00.598" v="130" actId="20577"/>
        <pc:sldMkLst>
          <pc:docMk/>
          <pc:sldMk cId="2706790016" sldId="259"/>
        </pc:sldMkLst>
        <pc:spChg chg="mod">
          <ac:chgData name="Shreyas Hanashi" userId="7e118203a64c2380" providerId="LiveId" clId="{C835A5DB-EAEA-42E9-84E7-8AB680BF2DD8}" dt="2025-11-13T05:18:00.598" v="130" actId="20577"/>
          <ac:spMkLst>
            <pc:docMk/>
            <pc:sldMk cId="2706790016" sldId="259"/>
            <ac:spMk id="3" creationId="{2361D872-7EC7-439F-A588-B1D90CB7A92F}"/>
          </ac:spMkLst>
        </pc:spChg>
      </pc:sldChg>
      <pc:sldChg chg="modSp mod">
        <pc:chgData name="Shreyas Hanashi" userId="7e118203a64c2380" providerId="LiveId" clId="{C835A5DB-EAEA-42E9-84E7-8AB680BF2DD8}" dt="2025-11-13T05:19:41.359" v="139" actId="20577"/>
        <pc:sldMkLst>
          <pc:docMk/>
          <pc:sldMk cId="31965923" sldId="260"/>
        </pc:sldMkLst>
        <pc:spChg chg="mod">
          <ac:chgData name="Shreyas Hanashi" userId="7e118203a64c2380" providerId="LiveId" clId="{C835A5DB-EAEA-42E9-84E7-8AB680BF2DD8}" dt="2025-11-13T05:19:41.359" v="139" actId="20577"/>
          <ac:spMkLst>
            <pc:docMk/>
            <pc:sldMk cId="31965923" sldId="260"/>
            <ac:spMk id="3" creationId="{2361D872-7EC7-439F-A588-B1D90CB7A92F}"/>
          </ac:spMkLst>
        </pc:spChg>
      </pc:sldChg>
      <pc:sldChg chg="modSp mod">
        <pc:chgData name="Shreyas Hanashi" userId="7e118203a64c2380" providerId="LiveId" clId="{C835A5DB-EAEA-42E9-84E7-8AB680BF2DD8}" dt="2025-11-13T05:21:38.363" v="152" actId="113"/>
        <pc:sldMkLst>
          <pc:docMk/>
          <pc:sldMk cId="3002968868" sldId="261"/>
        </pc:sldMkLst>
        <pc:spChg chg="mod">
          <ac:chgData name="Shreyas Hanashi" userId="7e118203a64c2380" providerId="LiveId" clId="{C835A5DB-EAEA-42E9-84E7-8AB680BF2DD8}" dt="2025-11-13T05:21:38.363" v="152" actId="113"/>
          <ac:spMkLst>
            <pc:docMk/>
            <pc:sldMk cId="3002968868" sldId="261"/>
            <ac:spMk id="3" creationId="{2361D872-7EC7-439F-A588-B1D90CB7A92F}"/>
          </ac:spMkLst>
        </pc:spChg>
      </pc:sldChg>
      <pc:sldChg chg="modSp mod">
        <pc:chgData name="Shreyas Hanashi" userId="7e118203a64c2380" providerId="LiveId" clId="{C835A5DB-EAEA-42E9-84E7-8AB680BF2DD8}" dt="2025-11-13T05:23:18.886" v="178" actId="20577"/>
        <pc:sldMkLst>
          <pc:docMk/>
          <pc:sldMk cId="151988358" sldId="262"/>
        </pc:sldMkLst>
        <pc:spChg chg="mod">
          <ac:chgData name="Shreyas Hanashi" userId="7e118203a64c2380" providerId="LiveId" clId="{C835A5DB-EAEA-42E9-84E7-8AB680BF2DD8}" dt="2025-11-13T05:23:18.886" v="178" actId="20577"/>
          <ac:spMkLst>
            <pc:docMk/>
            <pc:sldMk cId="151988358" sldId="262"/>
            <ac:spMk id="3" creationId="{2361D872-7EC7-439F-A588-B1D90CB7A92F}"/>
          </ac:spMkLst>
        </pc:spChg>
      </pc:sldChg>
      <pc:sldChg chg="addSp delSp modSp mod">
        <pc:chgData name="Shreyas Hanashi" userId="7e118203a64c2380" providerId="LiveId" clId="{C835A5DB-EAEA-42E9-84E7-8AB680BF2DD8}" dt="2025-11-13T05:30:52.193" v="206" actId="14100"/>
        <pc:sldMkLst>
          <pc:docMk/>
          <pc:sldMk cId="1635949419" sldId="263"/>
        </pc:sldMkLst>
        <pc:spChg chg="mod">
          <ac:chgData name="Shreyas Hanashi" userId="7e118203a64c2380" providerId="LiveId" clId="{C835A5DB-EAEA-42E9-84E7-8AB680BF2DD8}" dt="2025-11-13T05:29:01.051" v="192" actId="20577"/>
          <ac:spMkLst>
            <pc:docMk/>
            <pc:sldMk cId="1635949419" sldId="263"/>
            <ac:spMk id="3" creationId="{2361D872-7EC7-439F-A588-B1D90CB7A92F}"/>
          </ac:spMkLst>
        </pc:spChg>
        <pc:picChg chg="add del mod">
          <ac:chgData name="Shreyas Hanashi" userId="7e118203a64c2380" providerId="LiveId" clId="{C835A5DB-EAEA-42E9-84E7-8AB680BF2DD8}" dt="2025-11-13T05:28:55.679" v="191" actId="478"/>
          <ac:picMkLst>
            <pc:docMk/>
            <pc:sldMk cId="1635949419" sldId="263"/>
            <ac:picMk id="4" creationId="{9EFF7FFB-1A92-C3F9-B993-650D47119E9B}"/>
          </ac:picMkLst>
        </pc:picChg>
        <pc:picChg chg="add mod">
          <ac:chgData name="Shreyas Hanashi" userId="7e118203a64c2380" providerId="LiveId" clId="{C835A5DB-EAEA-42E9-84E7-8AB680BF2DD8}" dt="2025-11-13T05:29:44.691" v="199" actId="14100"/>
          <ac:picMkLst>
            <pc:docMk/>
            <pc:sldMk cId="1635949419" sldId="263"/>
            <ac:picMk id="6" creationId="{B8BD0EED-CA08-2B3A-1B74-C70E6ACD3FD3}"/>
          </ac:picMkLst>
        </pc:picChg>
        <pc:picChg chg="add mod">
          <ac:chgData name="Shreyas Hanashi" userId="7e118203a64c2380" providerId="LiveId" clId="{C835A5DB-EAEA-42E9-84E7-8AB680BF2DD8}" dt="2025-11-13T05:30:52.193" v="206" actId="14100"/>
          <ac:picMkLst>
            <pc:docMk/>
            <pc:sldMk cId="1635949419" sldId="263"/>
            <ac:picMk id="8" creationId="{934D9C4C-6046-AFC1-F8F2-0671D1A70A0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46655"/>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51586" y="3429000"/>
            <a:ext cx="7510762" cy="1200329"/>
          </a:xfrm>
          <a:prstGeom prst="rect">
            <a:avLst/>
          </a:prstGeom>
          <a:noFill/>
        </p:spPr>
        <p:txBody>
          <a:bodyPr wrap="square" rtlCol="0">
            <a:spAutoFit/>
          </a:bodyPr>
          <a:lstStyle/>
          <a:p>
            <a:pPr algn="r"/>
            <a:r>
              <a:rPr lang="en-IN" sz="3600" b="1" u="sng" dirty="0">
                <a:solidFill>
                  <a:schemeClr val="bg1"/>
                </a:solidFill>
                <a:latin typeface="Calibri" panose="020F0502020204030204" pitchFamily="34" charset="0"/>
                <a:ea typeface="Calibri" panose="020F0502020204030204" pitchFamily="34" charset="0"/>
                <a:cs typeface="Calibri" panose="020F0502020204030204" pitchFamily="34" charset="0"/>
              </a:rPr>
              <a:t>Crowd-Counting and Management</a:t>
            </a:r>
          </a:p>
          <a:p>
            <a:pPr algn="r"/>
            <a:r>
              <a:rPr lang="en-US" sz="3600" b="1" u="sng"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IN" sz="3600" b="1" u="sng" dirty="0">
                <a:solidFill>
                  <a:schemeClr val="bg1"/>
                </a:solidFill>
                <a:latin typeface="Calibri" panose="020F0502020204030204" pitchFamily="34" charset="0"/>
                <a:ea typeface="Calibri" panose="020F0502020204030204" pitchFamily="34" charset="0"/>
                <a:cs typeface="Calibri" panose="020F0502020204030204" pitchFamily="34" charset="0"/>
              </a:rPr>
              <a:t> </a:t>
            </a:r>
            <a:endParaRPr lang="en-US" sz="3600" b="1" u="sng"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802638"/>
            <a:ext cx="7797846" cy="5735929"/>
          </a:xfrm>
          <a:prstGeom prst="rect">
            <a:avLst/>
          </a:prstGeom>
          <a:noFill/>
        </p:spPr>
        <p:txBody>
          <a:bodyPr wrap="square">
            <a:spAutoFit/>
          </a:bodyPr>
          <a:lstStyle/>
          <a:p>
            <a:r>
              <a:rPr lang="en-IN" sz="2800" b="1" u="sng" dirty="0">
                <a:solidFill>
                  <a:srgbClr val="213163"/>
                </a:solidFill>
              </a:rPr>
              <a:t>Learning Objectives</a:t>
            </a:r>
          </a:p>
          <a:p>
            <a:endParaRPr lang="en-IN" sz="2000" b="1" dirty="0">
              <a:solidFill>
                <a:srgbClr val="213163"/>
              </a:solidFill>
              <a:latin typeface="+mn-lt"/>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Understand how object detection algorithms (such as YOLO, SSD, Faster R-CNN) can be applied to images or video for real-time counting and tracking of people within crowds.</a:t>
            </a: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Develop skills in configuring, training, and deploying deep learning models to detect multiple objects in complex scenes.</a:t>
            </a: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Gain practical experience with data annotation, collecting ground truth data for object locations, and evaluating detection performance (using metrics such as Precision, Recall, </a:t>
            </a:r>
            <a:r>
              <a:rPr lang="en-US" dirty="0" err="1">
                <a:latin typeface="Arial" panose="020B0604020202020204" pitchFamily="34" charset="0"/>
                <a:cs typeface="Arial" panose="020B0604020202020204" pitchFamily="34" charset="0"/>
              </a:rPr>
              <a:t>IoU</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mAP</a:t>
            </a:r>
            <a:r>
              <a:rPr lang="en-US"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Implement video analytics pipelines, including frame acquisition (using OpenCV), object localization, and result visualization.​</a:t>
            </a:r>
          </a:p>
          <a:p>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Learn to integrate crowd counting analytics with real-time alerting and reporting systems for crowd management and risk mitigation.</a:t>
            </a:r>
          </a:p>
          <a:p>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 </a:t>
            </a: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85800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2">
            <a:alphaModFix amt="85000"/>
          </a:blip>
          <a:srcRect l="13763" t="6135" r="13650"/>
          <a:stretch/>
        </p:blipFill>
        <p:spPr>
          <a:xfrm>
            <a:off x="7343265" y="142240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469443" y="2967335"/>
            <a:ext cx="2518348" cy="923330"/>
          </a:xfrm>
          <a:prstGeom prst="rect">
            <a:avLst/>
          </a:prstGeom>
          <a:noFill/>
        </p:spPr>
        <p:txBody>
          <a:bodyPr wrap="square" rtlCol="0">
            <a:spAutoFit/>
          </a:bodyPr>
          <a:lstStyle/>
          <a:p>
            <a:pPr>
              <a:spcAft>
                <a:spcPts val="800"/>
              </a:spcAft>
            </a:pPr>
            <a:r>
              <a:rPr lang="en-IN" sz="1800" b="1" dirty="0">
                <a:solidFill>
                  <a:schemeClr val="tx1"/>
                </a:solidFill>
                <a:latin typeface="+mn-lt"/>
              </a:rPr>
              <a:t>Track crowd density and distribution to find overcrowding.</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3" y="1067664"/>
            <a:ext cx="11826317" cy="5755422"/>
          </a:xfrm>
          <a:prstGeom prst="rect">
            <a:avLst/>
          </a:prstGeom>
          <a:noFill/>
        </p:spPr>
        <p:txBody>
          <a:bodyPr wrap="square">
            <a:spAutoFit/>
          </a:bodyPr>
          <a:lstStyle/>
          <a:p>
            <a:r>
              <a:rPr lang="en-US" sz="2800" b="1" u="sng" dirty="0">
                <a:solidFill>
                  <a:srgbClr val="213163"/>
                </a:solidFill>
              </a:rPr>
              <a:t>T</a:t>
            </a:r>
            <a:r>
              <a:rPr lang="en-IN" sz="2800" b="1" u="sng" dirty="0" err="1">
                <a:solidFill>
                  <a:srgbClr val="213163"/>
                </a:solidFill>
              </a:rPr>
              <a:t>ools</a:t>
            </a:r>
            <a:r>
              <a:rPr lang="en-IN" sz="2800" b="1" u="sng" dirty="0">
                <a:solidFill>
                  <a:srgbClr val="213163"/>
                </a:solidFill>
              </a:rPr>
              <a:t> and Technology used</a:t>
            </a:r>
          </a:p>
          <a:p>
            <a:endParaRPr lang="en-IN" sz="2000" b="1" dirty="0">
              <a:solidFill>
                <a:srgbClr val="213163"/>
              </a:solidFill>
            </a:endParaRPr>
          </a:p>
          <a:p>
            <a:pPr marL="342900" indent="-342900">
              <a:buFont typeface="Arial" panose="020B0604020202020204" pitchFamily="34" charset="0"/>
              <a:buChar char="•"/>
            </a:pPr>
            <a:r>
              <a:rPr lang="en-US" sz="2000" b="1" dirty="0"/>
              <a:t>YOLOv8 (</a:t>
            </a:r>
            <a:r>
              <a:rPr lang="en-US" sz="2000" b="1" dirty="0" err="1"/>
              <a:t>Ultralytics</a:t>
            </a:r>
            <a:r>
              <a:rPr lang="en-US" sz="2000" b="1" dirty="0"/>
              <a:t>):</a:t>
            </a:r>
            <a:r>
              <a:rPr lang="en-US" sz="2000" dirty="0"/>
              <a:t> State-of-the-art deep learning model for real-time object detection and tracking, providing fast, accurate detection of people in images and videos.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OpenCV:</a:t>
            </a:r>
            <a:r>
              <a:rPr lang="en-US" sz="2000" dirty="0"/>
              <a:t> Widely used computer vision library for image/video processing, visualization, and annotation of detection results.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Python Libraries:</a:t>
            </a:r>
            <a:r>
              <a:rPr lang="en-US" sz="2000" dirty="0"/>
              <a:t> Essential modules like NumPy for numerical processing, </a:t>
            </a:r>
            <a:r>
              <a:rPr lang="en-US" sz="2000" dirty="0" err="1"/>
              <a:t>argparse</a:t>
            </a:r>
            <a:r>
              <a:rPr lang="en-US" sz="2000" dirty="0"/>
              <a:t> for command-line control, glob for batch file handling, and csv for export of results.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Tracking &amp; Counting Logic:</a:t>
            </a:r>
            <a:r>
              <a:rPr lang="en-US" sz="2000" dirty="0"/>
              <a:t> Uses centroid-based tracking to monitor objects crossing a virtual line for counting entries and exits.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Optional GUI:</a:t>
            </a:r>
            <a:r>
              <a:rPr lang="en-US" sz="2000" dirty="0"/>
              <a:t> </a:t>
            </a:r>
            <a:r>
              <a:rPr lang="en-US" sz="2000" dirty="0" err="1"/>
              <a:t>tkinter</a:t>
            </a:r>
            <a:r>
              <a:rPr lang="en-US" sz="2000" dirty="0"/>
              <a:t> for file selection dialogs to improve usability.</a:t>
            </a:r>
          </a:p>
          <a:p>
            <a:endParaRPr lang="en-US" sz="2000" dirty="0"/>
          </a:p>
          <a:p>
            <a:pPr marL="342900" indent="-342900">
              <a:buFont typeface="Arial" panose="020B0604020202020204" pitchFamily="34" charset="0"/>
              <a:buChar char="•"/>
            </a:pPr>
            <a:r>
              <a:rPr lang="en-US" sz="2000" b="1" dirty="0"/>
              <a:t>Command line interface:</a:t>
            </a:r>
            <a:r>
              <a:rPr lang="en-US" sz="2000" dirty="0"/>
              <a:t> For flexible usage with single images, videos, or batch processing.</a:t>
            </a:r>
          </a:p>
          <a:p>
            <a:r>
              <a:rPr lang="en-IN" sz="2000" b="1" dirty="0">
                <a:solidFill>
                  <a:srgbClr val="213163"/>
                </a:solidFill>
              </a:rPr>
              <a:t> </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5" y="1014655"/>
            <a:ext cx="11708785" cy="4616648"/>
          </a:xfrm>
          <a:prstGeom prst="rect">
            <a:avLst/>
          </a:prstGeom>
          <a:noFill/>
        </p:spPr>
        <p:txBody>
          <a:bodyPr wrap="square">
            <a:spAutoFit/>
          </a:bodyPr>
          <a:lstStyle/>
          <a:p>
            <a:r>
              <a:rPr lang="en-US" sz="2800" b="1" u="sng" dirty="0">
                <a:solidFill>
                  <a:srgbClr val="213163"/>
                </a:solidFill>
              </a:rPr>
              <a:t>Methodology</a:t>
            </a:r>
          </a:p>
          <a:p>
            <a:endParaRPr lang="en-US" sz="2800" b="1" u="sng" dirty="0">
              <a:solidFill>
                <a:srgbClr val="213163"/>
              </a:solidFill>
            </a:endParaRPr>
          </a:p>
          <a:p>
            <a:pPr marL="342900" indent="-342900">
              <a:buFont typeface="Arial" panose="020B0604020202020204" pitchFamily="34" charset="0"/>
              <a:buChar char="•"/>
            </a:pPr>
            <a:r>
              <a:rPr lang="en-US" sz="2000" dirty="0"/>
              <a:t>Preprocessing video frames or images for consistent input.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Using YOLOv8 to detect people with bounding boxes and confidence scores.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Applying simple tracking by monitoring centroid movements relative to a virtual line or region.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Counting people crossing this line in/out to measure crowd flow.</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Annotating frames for visualization and optionally saving/logging the counts.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Supporting batch processing for multiple files and enabling configurable detection thresholds.</a:t>
            </a:r>
          </a:p>
          <a:p>
            <a:r>
              <a:rPr lang="en-US" sz="1800" b="1" dirty="0">
                <a:solidFill>
                  <a:srgbClr val="213163"/>
                </a:solidFill>
              </a:rPr>
              <a:t> </a:t>
            </a:r>
            <a:endParaRPr lang="en-IN" sz="1800" dirty="0">
              <a:solidFill>
                <a:srgbClr val="213163"/>
              </a:solidFill>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11452214" cy="3108543"/>
          </a:xfrm>
          <a:prstGeom prst="rect">
            <a:avLst/>
          </a:prstGeom>
          <a:noFill/>
        </p:spPr>
        <p:txBody>
          <a:bodyPr wrap="square">
            <a:spAutoFit/>
          </a:bodyPr>
          <a:lstStyle/>
          <a:p>
            <a:r>
              <a:rPr lang="en-US" sz="2800" b="1" u="sng" dirty="0">
                <a:solidFill>
                  <a:srgbClr val="213163"/>
                </a:solidFill>
              </a:rPr>
              <a:t>Problem Statement: </a:t>
            </a:r>
          </a:p>
          <a:p>
            <a:endParaRPr lang="en-US" sz="2800" b="1" u="sng" dirty="0">
              <a:solidFill>
                <a:srgbClr val="213163"/>
              </a:solidFill>
            </a:endParaRPr>
          </a:p>
          <a:p>
            <a:endParaRPr lang="en-US" sz="2000" b="1" dirty="0">
              <a:solidFill>
                <a:srgbClr val="213163"/>
              </a:solidFill>
            </a:endParaRPr>
          </a:p>
          <a:p>
            <a:r>
              <a:rPr lang="en-US" sz="2000" dirty="0"/>
              <a:t>"To develop an automated, real-time system capable of accurately detecting and counting the number of people in images and video streams from public and private environments. The system aims to monitor crowd size, flow, and density to enhance safety, optimize resource allocation, and provide actionable alerts during overcrowding or unusual movement patterns. The core challenge is achieving reliable detection and counting despite variations in crowd density, occlusions, and environmental conditions, using efficient detection models and simple tracking techniques."</a:t>
            </a:r>
            <a:r>
              <a:rPr lang="en-US" sz="2000" b="1" dirty="0">
                <a:solidFill>
                  <a:srgbClr val="213163"/>
                </a:solidFill>
              </a:rPr>
              <a:t> </a:t>
            </a:r>
            <a:endParaRPr lang="en-IN" sz="2000" b="1" dirty="0">
              <a:solidFill>
                <a:srgbClr val="213163"/>
              </a:solidFill>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11632096" cy="5262979"/>
          </a:xfrm>
          <a:prstGeom prst="rect">
            <a:avLst/>
          </a:prstGeom>
          <a:noFill/>
        </p:spPr>
        <p:txBody>
          <a:bodyPr wrap="square">
            <a:spAutoFit/>
          </a:bodyPr>
          <a:lstStyle/>
          <a:p>
            <a:r>
              <a:rPr lang="en-US" sz="2800" b="1" u="sng" dirty="0">
                <a:solidFill>
                  <a:srgbClr val="213163"/>
                </a:solidFill>
              </a:rPr>
              <a:t>Solution:</a:t>
            </a:r>
          </a:p>
          <a:p>
            <a:endParaRPr lang="en-US" sz="2800" b="1" u="sng" dirty="0">
              <a:solidFill>
                <a:srgbClr val="213163"/>
              </a:solidFill>
            </a:endParaRPr>
          </a:p>
          <a:p>
            <a:r>
              <a:rPr lang="en-US" sz="2000" dirty="0"/>
              <a:t>The solution is to implement a real-time, automated crowd counting system using the YOLOv8 object detection model integrated with video processing tools like OpenCV. The system detects and localizes people in images and video streams with high accuracy, then tracks their movement relative to a virtual line or region to count entries and exits.</a:t>
            </a:r>
          </a:p>
          <a:p>
            <a:endParaRPr lang="en-US" sz="2000" dirty="0"/>
          </a:p>
          <a:p>
            <a:r>
              <a:rPr lang="en-US" sz="2000" u="sng" dirty="0"/>
              <a:t>Key components include</a:t>
            </a:r>
            <a:r>
              <a:rPr lang="en-US" sz="2000" dirty="0"/>
              <a:t>:</a:t>
            </a:r>
          </a:p>
          <a:p>
            <a:endParaRPr lang="en-US" sz="2000" dirty="0"/>
          </a:p>
          <a:p>
            <a:pPr marL="342900" indent="-342900">
              <a:buFont typeface="Arial" panose="020B0604020202020204" pitchFamily="34" charset="0"/>
              <a:buChar char="•"/>
            </a:pPr>
            <a:r>
              <a:rPr lang="en-US" sz="2000" dirty="0"/>
              <a:t>Pretrained YOLOv8 for fast, reliable person detection.</a:t>
            </a:r>
          </a:p>
          <a:p>
            <a:pPr marL="342900" indent="-342900">
              <a:buFont typeface="Arial" panose="020B0604020202020204" pitchFamily="34" charset="0"/>
              <a:buChar char="•"/>
            </a:pPr>
            <a:r>
              <a:rPr lang="en-US" sz="2000" dirty="0"/>
              <a:t>Centroid-based tracking to associate detections frame-by-frame.</a:t>
            </a:r>
          </a:p>
          <a:p>
            <a:pPr marL="342900" indent="-342900">
              <a:buFont typeface="Arial" panose="020B0604020202020204" pitchFamily="34" charset="0"/>
              <a:buChar char="•"/>
            </a:pPr>
            <a:r>
              <a:rPr lang="en-US" sz="2000" dirty="0"/>
              <a:t>Counting logic to monitor crossing events for crowd flow measurement.</a:t>
            </a:r>
          </a:p>
          <a:p>
            <a:pPr marL="342900" indent="-342900">
              <a:buFont typeface="Arial" panose="020B0604020202020204" pitchFamily="34" charset="0"/>
              <a:buChar char="•"/>
            </a:pPr>
            <a:r>
              <a:rPr lang="en-US" sz="2000" dirty="0"/>
              <a:t>Visualization overlays for bounding boxes, counts, and tracking.</a:t>
            </a:r>
          </a:p>
          <a:p>
            <a:pPr marL="342900" indent="-342900">
              <a:buFont typeface="Arial" panose="020B0604020202020204" pitchFamily="34" charset="0"/>
              <a:buChar char="•"/>
            </a:pPr>
            <a:r>
              <a:rPr lang="en-US" sz="2000" dirty="0"/>
              <a:t>Batch processing capabilities for large-scale image analysis.</a:t>
            </a:r>
          </a:p>
          <a:p>
            <a:pPr marL="342900" indent="-342900">
              <a:buFont typeface="Arial" panose="020B0604020202020204" pitchFamily="34" charset="0"/>
              <a:buChar char="•"/>
            </a:pPr>
            <a:r>
              <a:rPr lang="en-US" sz="2000" dirty="0"/>
              <a:t>Optional GUI for easy file selection and user interaction.</a:t>
            </a:r>
          </a:p>
          <a:p>
            <a:r>
              <a:rPr lang="en-US" sz="2000" b="1" dirty="0">
                <a:solidFill>
                  <a:srgbClr val="213163"/>
                </a:solidFill>
              </a:rPr>
              <a:t>  </a:t>
            </a:r>
            <a:endParaRPr lang="en-IN" sz="2000" b="1" dirty="0">
              <a:solidFill>
                <a:srgbClr val="213163"/>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11602116" cy="1384995"/>
          </a:xfrm>
          <a:prstGeom prst="rect">
            <a:avLst/>
          </a:prstGeom>
          <a:noFill/>
        </p:spPr>
        <p:txBody>
          <a:bodyPr wrap="square">
            <a:spAutoFit/>
          </a:bodyPr>
          <a:lstStyle/>
          <a:p>
            <a:r>
              <a:rPr lang="en-US" sz="2800" b="1" u="sng" dirty="0">
                <a:solidFill>
                  <a:srgbClr val="213163"/>
                </a:solidFill>
              </a:rPr>
              <a:t>Screenshot of Output:</a:t>
            </a:r>
          </a:p>
          <a:p>
            <a:r>
              <a:rPr lang="en-US" sz="2800" b="1" u="sng" dirty="0">
                <a:solidFill>
                  <a:srgbClr val="213163"/>
                </a:solidFill>
              </a:rPr>
              <a:t>  </a:t>
            </a:r>
          </a:p>
          <a:p>
            <a:endParaRPr lang="en-IN" sz="2800" b="1" u="sng" dirty="0">
              <a:solidFill>
                <a:srgbClr val="213163"/>
              </a:solidFill>
            </a:endParaRPr>
          </a:p>
        </p:txBody>
      </p:sp>
      <p:pic>
        <p:nvPicPr>
          <p:cNvPr id="6" name="Picture 5">
            <a:extLst>
              <a:ext uri="{FF2B5EF4-FFF2-40B4-BE49-F238E27FC236}">
                <a16:creationId xmlns:a16="http://schemas.microsoft.com/office/drawing/2014/main" id="{B8BD0EED-CA08-2B3A-1B74-C70E6ACD3FD3}"/>
              </a:ext>
            </a:extLst>
          </p:cNvPr>
          <p:cNvPicPr>
            <a:picLocks noChangeAspect="1"/>
          </p:cNvPicPr>
          <p:nvPr/>
        </p:nvPicPr>
        <p:blipFill>
          <a:blip r:embed="rId2"/>
          <a:stretch>
            <a:fillRect/>
          </a:stretch>
        </p:blipFill>
        <p:spPr>
          <a:xfrm>
            <a:off x="255104" y="1920108"/>
            <a:ext cx="6591871" cy="4937891"/>
          </a:xfrm>
          <a:prstGeom prst="rect">
            <a:avLst/>
          </a:prstGeom>
        </p:spPr>
      </p:pic>
      <p:pic>
        <p:nvPicPr>
          <p:cNvPr id="8" name="Picture 7">
            <a:extLst>
              <a:ext uri="{FF2B5EF4-FFF2-40B4-BE49-F238E27FC236}">
                <a16:creationId xmlns:a16="http://schemas.microsoft.com/office/drawing/2014/main" id="{934D9C4C-6046-AFC1-F8F2-0671D1A70A05}"/>
              </a:ext>
            </a:extLst>
          </p:cNvPr>
          <p:cNvPicPr>
            <a:picLocks noChangeAspect="1"/>
          </p:cNvPicPr>
          <p:nvPr/>
        </p:nvPicPr>
        <p:blipFill>
          <a:blip r:embed="rId3"/>
          <a:stretch>
            <a:fillRect/>
          </a:stretch>
        </p:blipFill>
        <p:spPr>
          <a:xfrm>
            <a:off x="6846974" y="1800808"/>
            <a:ext cx="5345025" cy="5057192"/>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6" y="988151"/>
            <a:ext cx="11903005" cy="5262979"/>
          </a:xfrm>
          <a:prstGeom prst="rect">
            <a:avLst/>
          </a:prstGeom>
          <a:noFill/>
        </p:spPr>
        <p:txBody>
          <a:bodyPr wrap="square">
            <a:spAutoFit/>
          </a:bodyPr>
          <a:lstStyle/>
          <a:p>
            <a:r>
              <a:rPr lang="en-US" sz="2800" b="1" u="sng" dirty="0">
                <a:solidFill>
                  <a:srgbClr val="213163"/>
                </a:solidFill>
              </a:rPr>
              <a:t>Conclusion: </a:t>
            </a:r>
          </a:p>
          <a:p>
            <a:endParaRPr lang="en-US" sz="2800" b="1" u="sng" dirty="0">
              <a:solidFill>
                <a:srgbClr val="213163"/>
              </a:solidFill>
            </a:endParaRPr>
          </a:p>
          <a:p>
            <a:r>
              <a:rPr lang="en-US" sz="2000" dirty="0"/>
              <a:t>The YOLOv8-based crowd counting and management system represents a powerful and efficient application of modern computer vision techniques. By leveraging YOLOv8’s real-time accurate detection capabilities combined with simple but effective tracking and counting logic, the system provides valuable insights into crowd size, flow, and density. This enables improved safety monitoring, event management, and resource optimization across various public and private environments.</a:t>
            </a:r>
          </a:p>
          <a:p>
            <a:endParaRPr lang="en-US" sz="2000" dirty="0"/>
          </a:p>
          <a:p>
            <a:r>
              <a:rPr lang="en-US" sz="2000" dirty="0"/>
              <a:t>The integration of visualization, batch processing, and optional alerting mechanisms further enhances its practicality for real-world deployments. While challenges such as occlusion and complex backgrounds exist, ongoing advances in deep learning continue to improve robustness and accuracy.</a:t>
            </a:r>
          </a:p>
          <a:p>
            <a:endParaRPr lang="en-US" sz="2000" dirty="0"/>
          </a:p>
          <a:p>
            <a:r>
              <a:rPr lang="en-US" sz="2000" dirty="0"/>
              <a:t>Overall, this system offers a scalable, automated solution to replace manual crowd monitoring, supporting proactive crowd control measures and informed decision-making to prevent accidents and optimize operations in crowded spaces</a:t>
            </a:r>
          </a:p>
          <a:p>
            <a:r>
              <a:rPr lang="en-US" sz="2000" b="1" dirty="0">
                <a:solidFill>
                  <a:srgbClr val="213163"/>
                </a:solidFill>
              </a:rPr>
              <a:t> </a:t>
            </a:r>
            <a:endParaRPr lang="en-IN" sz="2000"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51</TotalTime>
  <Words>714</Words>
  <Application>Microsoft Office PowerPoint</Application>
  <PresentationFormat>Widescreen</PresentationFormat>
  <Paragraphs>70</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Shreyas Hanashi</cp:lastModifiedBy>
  <cp:revision>4</cp:revision>
  <dcterms:created xsi:type="dcterms:W3CDTF">2024-12-31T09:40:01Z</dcterms:created>
  <dcterms:modified xsi:type="dcterms:W3CDTF">2025-11-13T05:32:16Z</dcterms:modified>
</cp:coreProperties>
</file>